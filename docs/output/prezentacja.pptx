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60" r:id="rId3"/>
    <p:sldId id="257" r:id="rId4"/>
    <p:sldId id="258" r:id="rId5"/>
    <p:sldId id="262" r:id="rId6"/>
    <p:sldId id="259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7C017-9890-74A7-6F19-A2B96CCF74F4}" v="1" dt="2025-11-18T22:57:18.426"/>
    <p1510:client id="{27870C37-3F6E-2DE3-E234-E54B54C6384B}" v="97" dt="2025-11-18T18:16:25.567"/>
    <p1510:client id="{34C00348-50A9-7D00-813C-CBFC79EEB1E5}" v="53" dt="2025-11-18T18:06:45.310"/>
    <p1510:client id="{41FBD567-D383-1004-7C83-98521D8C06E9}" v="12" dt="2025-11-18T18:07:42.058"/>
    <p1510:client id="{500B29FB-24E4-A4DA-CB8A-5835B02C0CB8}" v="557" dt="2025-11-18T18:20:51.380"/>
    <p1510:client id="{5697C869-48D4-8B56-1865-59AC64B6BD3B}" v="53" dt="2025-11-18T18:30:15.722"/>
    <p1510:client id="{5ABA1E94-D704-C137-BC72-8EC381ACB6BB}" v="234" dt="2025-11-18T18:35:50.137"/>
    <p1510:client id="{9994EC70-0036-50B9-8991-18917290B78E}" v="6" dt="2025-11-18T17:50:31.814"/>
    <p1510:client id="{9ECCEF51-0083-735E-0A16-59775D4D6972}" v="139" dt="2025-11-18T18:37:16.993"/>
    <p1510:client id="{C0E3BCDE-C0C4-C695-0858-8E9042FDD3D0}" v="50" dt="2025-11-18T18:34:35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8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9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6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2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9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9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67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68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48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3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24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280559" y="1286935"/>
            <a:ext cx="9638153" cy="2668377"/>
          </a:xfrm>
          <a:prstGeom prst="roundRect">
            <a:avLst/>
          </a:prstGeom>
          <a:effectLst/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sz="3000">
                <a:solidFill>
                  <a:schemeClr val="tx1"/>
                </a:solidFill>
              </a:rPr>
              <a:t>Video-Sent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280559" y="4116179"/>
            <a:ext cx="9638153" cy="1599642"/>
          </a:xfrm>
          <a:prstGeom prst="quadArrowCallout">
            <a:avLst/>
          </a:prstGeom>
          <a:effectLst/>
        </p:spPr>
        <p:txBody>
          <a:bodyPr>
            <a:normAutofit/>
          </a:bodyPr>
          <a:lstStyle/>
          <a:p>
            <a:pPr algn="ctr"/>
            <a:r>
              <a:rPr lang="pl-PL"/>
              <a:t>Aplikacja internetowa do analizy sentymentu recenzji smartfonów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36BE0-C68F-8837-76C9-1F5E0CC8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Skład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1AE533-CB3E-9E54-6546-96D5D7A8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74320" indent="-274320">
              <a:lnSpc>
                <a:spcPct val="130000"/>
              </a:lnSpc>
              <a:buSzPct val="85000"/>
            </a:pPr>
            <a:r>
              <a:rPr lang="pl-PL" sz="1800">
                <a:solidFill>
                  <a:srgbClr val="FFFFFF"/>
                </a:solidFill>
                <a:latin typeface="Trade Gothic Next Light"/>
              </a:rPr>
              <a:t>Kacper Stasiak – </a:t>
            </a:r>
            <a:r>
              <a:rPr lang="pl-PL" err="1">
                <a:solidFill>
                  <a:srgbClr val="FFFFFF"/>
                </a:solidFill>
                <a:latin typeface="Trade Gothic Next Light"/>
              </a:rPr>
              <a:t>Frontend</a:t>
            </a:r>
            <a:r>
              <a:rPr lang="pl-PL" sz="1800">
                <a:solidFill>
                  <a:srgbClr val="FFFFFF"/>
                </a:solidFill>
                <a:latin typeface="Trade Gothic Next Light"/>
              </a:rPr>
              <a:t> użytkownika</a:t>
            </a:r>
          </a:p>
          <a:p>
            <a:pPr marL="274320" indent="-274320">
              <a:lnSpc>
                <a:spcPct val="130000"/>
              </a:lnSpc>
              <a:buSzPct val="85000"/>
            </a:pPr>
            <a:r>
              <a:rPr lang="pl-PL">
                <a:solidFill>
                  <a:srgbClr val="FFFFFF"/>
                </a:solidFill>
                <a:latin typeface="Trade Gothic Next Light"/>
              </a:rPr>
              <a:t>Julia </a:t>
            </a:r>
            <a:r>
              <a:rPr lang="pl-PL" err="1">
                <a:solidFill>
                  <a:srgbClr val="FFFFFF"/>
                </a:solidFill>
                <a:latin typeface="Trade Gothic Next Light"/>
              </a:rPr>
              <a:t>Ruszer</a:t>
            </a:r>
            <a:r>
              <a:rPr lang="pl-PL">
                <a:solidFill>
                  <a:srgbClr val="FFFFFF"/>
                </a:solidFill>
                <a:latin typeface="Trade Gothic Next Light"/>
              </a:rPr>
              <a:t> – Baza danych</a:t>
            </a:r>
          </a:p>
          <a:p>
            <a:pPr marL="274320" indent="-274320">
              <a:lnSpc>
                <a:spcPct val="130000"/>
              </a:lnSpc>
              <a:buSzPct val="85000"/>
            </a:pPr>
            <a:r>
              <a:rPr lang="pl-PL">
                <a:solidFill>
                  <a:srgbClr val="FFFFFF"/>
                </a:solidFill>
                <a:latin typeface="Trade Gothic Next Light"/>
              </a:rPr>
              <a:t>Kacper Przybylski – Pobieranie danych</a:t>
            </a:r>
          </a:p>
          <a:p>
            <a:pPr marL="274320" indent="-274320">
              <a:lnSpc>
                <a:spcPct val="130000"/>
              </a:lnSpc>
              <a:buSzPct val="85000"/>
            </a:pPr>
            <a:r>
              <a:rPr lang="pl-PL">
                <a:solidFill>
                  <a:srgbClr val="FFFFFF"/>
                </a:solidFill>
                <a:latin typeface="Trade Gothic Next Light"/>
              </a:rPr>
              <a:t>Kacper Witek – Transkrypcja</a:t>
            </a:r>
          </a:p>
          <a:p>
            <a:pPr marL="274320" indent="-274320">
              <a:lnSpc>
                <a:spcPct val="130000"/>
              </a:lnSpc>
              <a:buSzPct val="85000"/>
            </a:pPr>
            <a:r>
              <a:rPr lang="pl-PL">
                <a:solidFill>
                  <a:srgbClr val="FFFFFF"/>
                </a:solidFill>
                <a:latin typeface="Trade Gothic Next Light"/>
              </a:rPr>
              <a:t>Jakub </a:t>
            </a:r>
            <a:r>
              <a:rPr lang="pl-PL" err="1">
                <a:solidFill>
                  <a:srgbClr val="FFFFFF"/>
                </a:solidFill>
                <a:latin typeface="Trade Gothic Next Light"/>
              </a:rPr>
              <a:t>Cendalski</a:t>
            </a:r>
            <a:r>
              <a:rPr lang="pl-PL">
                <a:solidFill>
                  <a:srgbClr val="FFFFFF"/>
                </a:solidFill>
                <a:latin typeface="Trade Gothic Next Light"/>
              </a:rPr>
              <a:t> – Analiza sentymentu</a:t>
            </a:r>
          </a:p>
          <a:p>
            <a:pPr marL="274320" indent="-274320">
              <a:lnSpc>
                <a:spcPct val="130000"/>
              </a:lnSpc>
              <a:buSzPct val="85000"/>
            </a:pPr>
            <a:r>
              <a:rPr lang="pl-PL">
                <a:solidFill>
                  <a:srgbClr val="FFFFFF"/>
                </a:solidFill>
                <a:latin typeface="Trade Gothic Next Light"/>
              </a:rPr>
              <a:t>Dawid Frontczak - Moduł wizualizacji</a:t>
            </a:r>
          </a:p>
          <a:p>
            <a:pPr marL="274320" indent="-274320">
              <a:lnSpc>
                <a:spcPct val="130000"/>
              </a:lnSpc>
              <a:buSzPct val="85000"/>
            </a:pPr>
            <a:endParaRPr lang="pl-PL">
              <a:solidFill>
                <a:srgbClr val="FFFFFF"/>
              </a:solidFill>
              <a:latin typeface="Trade Gothic N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60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9808B8-9AB6-F98E-49BD-F2E8A4D6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Główne założenia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64CAA0-FFA6-D8C5-0415-89724DAA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>
                <a:latin typeface="Trade Gothic Next Light"/>
                <a:cs typeface="Times New Roman"/>
              </a:rPr>
              <a:t>Aplikacja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musi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być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responsywna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i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działać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poprawnie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na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różnych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rozmiarach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ekranu</a:t>
            </a:r>
            <a:r>
              <a:rPr lang="en-US">
                <a:latin typeface="Trade Gothic Next Light"/>
                <a:cs typeface="Times New Roman"/>
              </a:rPr>
              <a:t>.</a:t>
            </a:r>
          </a:p>
          <a:p>
            <a:r>
              <a:rPr lang="en-US" err="1">
                <a:latin typeface="Trade Gothic Next Light"/>
                <a:cs typeface="Times New Roman"/>
              </a:rPr>
              <a:t>Czas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przetwarzania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filmu</a:t>
            </a:r>
            <a:r>
              <a:rPr lang="en-US">
                <a:latin typeface="Trade Gothic Next Light"/>
                <a:cs typeface="Times New Roman"/>
              </a:rPr>
              <a:t> o </a:t>
            </a:r>
            <a:r>
              <a:rPr lang="en-US" err="1">
                <a:latin typeface="Trade Gothic Next Light"/>
                <a:cs typeface="Times New Roman"/>
              </a:rPr>
              <a:t>długości</a:t>
            </a:r>
            <a:r>
              <a:rPr lang="en-US">
                <a:latin typeface="Trade Gothic Next Light"/>
                <a:cs typeface="Times New Roman"/>
              </a:rPr>
              <a:t> 10 </a:t>
            </a:r>
            <a:r>
              <a:rPr lang="en-US" err="1">
                <a:latin typeface="Trade Gothic Next Light"/>
                <a:cs typeface="Times New Roman"/>
              </a:rPr>
              <a:t>minut</a:t>
            </a:r>
            <a:r>
              <a:rPr lang="en-US">
                <a:latin typeface="Trade Gothic Next Light"/>
                <a:cs typeface="Times New Roman"/>
              </a:rPr>
              <a:t>, </a:t>
            </a:r>
            <a:r>
              <a:rPr lang="en-US" err="1">
                <a:latin typeface="Trade Gothic Next Light"/>
                <a:cs typeface="Times New Roman"/>
              </a:rPr>
              <a:t>nie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powinien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przekraczać</a:t>
            </a:r>
            <a:r>
              <a:rPr lang="en-US">
                <a:latin typeface="Trade Gothic Next Light"/>
                <a:cs typeface="Times New Roman"/>
              </a:rPr>
              <a:t> 3 </a:t>
            </a:r>
            <a:r>
              <a:rPr lang="en-US" err="1">
                <a:latin typeface="Trade Gothic Next Light"/>
                <a:cs typeface="Times New Roman"/>
              </a:rPr>
              <a:t>minuty</a:t>
            </a:r>
            <a:r>
              <a:rPr lang="en-US">
                <a:latin typeface="Trade Gothic Next Light"/>
                <a:cs typeface="Times New Roman"/>
              </a:rPr>
              <a:t>.</a:t>
            </a:r>
          </a:p>
          <a:p>
            <a:r>
              <a:rPr lang="en-US">
                <a:latin typeface="Trade Gothic Next Light"/>
                <a:cs typeface="Times New Roman"/>
              </a:rPr>
              <a:t>Projekt </a:t>
            </a:r>
            <a:r>
              <a:rPr lang="en-US" err="1">
                <a:latin typeface="Trade Gothic Next Light"/>
                <a:cs typeface="Times New Roman"/>
              </a:rPr>
              <a:t>musi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być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zrealizowany</a:t>
            </a:r>
            <a:r>
              <a:rPr lang="en-US">
                <a:latin typeface="Trade Gothic Next Light"/>
                <a:cs typeface="Times New Roman"/>
              </a:rPr>
              <a:t> w </a:t>
            </a:r>
            <a:r>
              <a:rPr lang="en-US" err="1">
                <a:latin typeface="Trade Gothic Next Light"/>
                <a:cs typeface="Times New Roman"/>
              </a:rPr>
              <a:t>ograniczonym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czasie</a:t>
            </a:r>
            <a:r>
              <a:rPr lang="en-US">
                <a:latin typeface="Trade Gothic Next Light"/>
                <a:cs typeface="Times New Roman"/>
              </a:rPr>
              <a:t> (</a:t>
            </a:r>
            <a:r>
              <a:rPr lang="en-US" err="1">
                <a:latin typeface="Trade Gothic Next Light"/>
                <a:cs typeface="Times New Roman"/>
              </a:rPr>
              <a:t>jednego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semestru</a:t>
            </a:r>
            <a:r>
              <a:rPr lang="en-US">
                <a:latin typeface="Trade Gothic Next Light"/>
                <a:cs typeface="Times New Roman"/>
              </a:rPr>
              <a:t>).</a:t>
            </a:r>
          </a:p>
          <a:p>
            <a:r>
              <a:rPr lang="en-US">
                <a:latin typeface="Trade Gothic Next Light"/>
                <a:cs typeface="Times New Roman"/>
              </a:rPr>
              <a:t>System jest </a:t>
            </a:r>
            <a:r>
              <a:rPr lang="en-US" err="1">
                <a:latin typeface="Trade Gothic Next Light"/>
                <a:cs typeface="Times New Roman"/>
              </a:rPr>
              <a:t>zależny</a:t>
            </a:r>
            <a:r>
              <a:rPr lang="en-US">
                <a:latin typeface="Trade Gothic Next Light"/>
                <a:cs typeface="Times New Roman"/>
              </a:rPr>
              <a:t> od </a:t>
            </a:r>
            <a:r>
              <a:rPr lang="en-US" err="1">
                <a:latin typeface="Trade Gothic Next Light"/>
                <a:cs typeface="Times New Roman"/>
              </a:rPr>
              <a:t>zewnętrznych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narzędzi</a:t>
            </a:r>
            <a:r>
              <a:rPr lang="en-US">
                <a:latin typeface="Trade Gothic Next Light"/>
                <a:cs typeface="Times New Roman"/>
              </a:rPr>
              <a:t>, </a:t>
            </a:r>
            <a:r>
              <a:rPr lang="en-US" err="1">
                <a:latin typeface="Trade Gothic Next Light"/>
                <a:cs typeface="Times New Roman"/>
              </a:rPr>
              <a:t>które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mogą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generować</a:t>
            </a:r>
            <a:r>
              <a:rPr lang="en-US">
                <a:latin typeface="Trade Gothic Next Light"/>
                <a:cs typeface="Times New Roman"/>
              </a:rPr>
              <a:t> </a:t>
            </a:r>
            <a:r>
              <a:rPr lang="en-US" err="1">
                <a:latin typeface="Trade Gothic Next Light"/>
                <a:cs typeface="Times New Roman"/>
              </a:rPr>
              <a:t>błędy</a:t>
            </a:r>
            <a:r>
              <a:rPr lang="en-US">
                <a:latin typeface="Trade Gothic Next Light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404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CA5F79-E3F3-1A30-DFC8-7A4CA22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Architektura – backend</a:t>
            </a:r>
          </a:p>
        </p:txBody>
      </p:sp>
      <p:pic>
        <p:nvPicPr>
          <p:cNvPr id="3" name="Symbol zastępczy zawartości 2" descr="PlantUML Diagram">
            <a:extLst>
              <a:ext uri="{FF2B5EF4-FFF2-40B4-BE49-F238E27FC236}">
                <a16:creationId xmlns:a16="http://schemas.microsoft.com/office/drawing/2014/main" id="{A7FCCD1A-9D48-C4F1-CA8A-E02910CCD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239" y="2138338"/>
            <a:ext cx="5393977" cy="450183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999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32B2A5-DCE8-241B-810C-FE4232F0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Architektura – baza danych</a:t>
            </a:r>
          </a:p>
        </p:txBody>
      </p:sp>
      <p:pic>
        <p:nvPicPr>
          <p:cNvPr id="4" name="Symbol zastępczy zawartości 3" descr="Obraz zawierający tekst, zrzut ekranu, diagram, opalenizna&#10;&#10;Zawartość wygenerowana przez AI może być niepoprawna.">
            <a:extLst>
              <a:ext uri="{FF2B5EF4-FFF2-40B4-BE49-F238E27FC236}">
                <a16:creationId xmlns:a16="http://schemas.microsoft.com/office/drawing/2014/main" id="{E5CE16D1-7D05-5401-7010-23F3BC0E6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504" y="2380263"/>
            <a:ext cx="10374990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266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F9E92D-4C10-5F1F-E196-965F678B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Technologie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DEE67E-F632-3A64-DF29-5030501D2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386" y="2222287"/>
            <a:ext cx="5403746" cy="453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pl-PL" err="1">
                <a:latin typeface="Trade Gothic Next Light"/>
              </a:rPr>
              <a:t>Backend</a:t>
            </a:r>
            <a:endParaRPr lang="pl-PL">
              <a:latin typeface="Trade Gothic Next Light"/>
            </a:endParaRPr>
          </a:p>
          <a:p>
            <a:pPr lvl="1">
              <a:buFont typeface="Courier New" charset="2"/>
              <a:buChar char="o"/>
            </a:pPr>
            <a:r>
              <a:rPr lang="pl-PL" b="1" err="1">
                <a:latin typeface="Trade Gothic Next Light"/>
              </a:rPr>
              <a:t>Python</a:t>
            </a:r>
            <a:r>
              <a:rPr lang="pl-PL" b="1">
                <a:latin typeface="Trade Gothic Next Light"/>
              </a:rPr>
              <a:t> 3.13</a:t>
            </a:r>
            <a:r>
              <a:rPr lang="pl-PL">
                <a:latin typeface="Trade Gothic Next Light"/>
              </a:rPr>
              <a:t>, </a:t>
            </a:r>
            <a:r>
              <a:rPr lang="pl-PL" b="1" err="1">
                <a:latin typeface="Trade Gothic Next Light"/>
              </a:rPr>
              <a:t>FastAPI</a:t>
            </a:r>
            <a:endParaRPr lang="pl-PL" b="1">
              <a:latin typeface="Trade Gothic Next Light"/>
            </a:endParaRPr>
          </a:p>
          <a:p>
            <a:pPr lvl="1">
              <a:buFont typeface="Courier New" charset="2"/>
              <a:buChar char="o"/>
            </a:pPr>
            <a:r>
              <a:rPr lang="pl-PL">
                <a:latin typeface="Trade Gothic Next Light"/>
              </a:rPr>
              <a:t>NLP </a:t>
            </a:r>
            <a:r>
              <a:rPr lang="pl-PL" err="1">
                <a:latin typeface="Trade Gothic Next Light"/>
              </a:rPr>
              <a:t>core</a:t>
            </a:r>
            <a:r>
              <a:rPr lang="pl-PL">
                <a:latin typeface="Trade Gothic Next Light"/>
              </a:rPr>
              <a:t>: </a:t>
            </a:r>
          </a:p>
          <a:p>
            <a:pPr lvl="2">
              <a:buFont typeface="Wingdings" charset="2"/>
              <a:buChar char="§"/>
            </a:pPr>
            <a:r>
              <a:rPr lang="pl-PL" b="1" dirty="0" err="1">
                <a:latin typeface="Trade Gothic Next Light"/>
              </a:rPr>
              <a:t>SpaCy</a:t>
            </a:r>
            <a:r>
              <a:rPr lang="pl-PL" dirty="0">
                <a:latin typeface="Trade Gothic Next Light"/>
              </a:rPr>
              <a:t> – </a:t>
            </a:r>
            <a:r>
              <a:rPr lang="pl-PL">
                <a:latin typeface="Trade Gothic Next Light"/>
              </a:rPr>
              <a:t>pl_core_news_sm</a:t>
            </a:r>
          </a:p>
          <a:p>
            <a:pPr lvl="2">
              <a:buFont typeface="Wingdings" charset="2"/>
              <a:buChar char="§"/>
            </a:pPr>
            <a:r>
              <a:rPr lang="pl-PL" b="1" err="1">
                <a:latin typeface="Trade Gothic Next Light"/>
              </a:rPr>
              <a:t>Transformers</a:t>
            </a:r>
            <a:r>
              <a:rPr lang="pl-PL">
                <a:latin typeface="Trade Gothic Next Light"/>
              </a:rPr>
              <a:t> – </a:t>
            </a:r>
            <a:r>
              <a:rPr lang="pl-PL" err="1">
                <a:latin typeface="Trade Gothic Next Light"/>
              </a:rPr>
              <a:t>nlptown</a:t>
            </a:r>
            <a:r>
              <a:rPr lang="pl-PL">
                <a:latin typeface="Trade Gothic Next Light"/>
              </a:rPr>
              <a:t>/bert-</a:t>
            </a:r>
            <a:r>
              <a:rPr lang="pl-PL" err="1">
                <a:latin typeface="Trade Gothic Next Light"/>
              </a:rPr>
              <a:t>base</a:t>
            </a:r>
            <a:r>
              <a:rPr lang="pl-PL">
                <a:latin typeface="Trade Gothic Next Light"/>
              </a:rPr>
              <a:t>-</a:t>
            </a:r>
            <a:r>
              <a:rPr lang="pl-PL" err="1">
                <a:latin typeface="Trade Gothic Next Light"/>
              </a:rPr>
              <a:t>multilingual-uncased-sentiment</a:t>
            </a:r>
            <a:endParaRPr lang="pl-PL">
              <a:latin typeface="Trade Gothic Next Light"/>
            </a:endParaRPr>
          </a:p>
          <a:p>
            <a:pPr lvl="1">
              <a:buFont typeface="Courier New" charset="2"/>
              <a:buChar char="o"/>
            </a:pPr>
            <a:r>
              <a:rPr lang="pl-PL" err="1">
                <a:latin typeface="Trade Gothic Next Light"/>
              </a:rPr>
              <a:t>Transcribe</a:t>
            </a:r>
            <a:r>
              <a:rPr lang="pl-PL">
                <a:latin typeface="Trade Gothic Next Light"/>
              </a:rPr>
              <a:t>:</a:t>
            </a:r>
            <a:endParaRPr lang="en-US">
              <a:latin typeface="Trade Gothic Next Light"/>
            </a:endParaRPr>
          </a:p>
          <a:p>
            <a:pPr lvl="2">
              <a:buFont typeface="Wingdings" charset="2"/>
              <a:buChar char="§"/>
            </a:pPr>
            <a:r>
              <a:rPr lang="pl-PL">
                <a:latin typeface="Trade Gothic Next Light"/>
              </a:rPr>
              <a:t> </a:t>
            </a:r>
            <a:r>
              <a:rPr lang="pl-PL" b="1" err="1">
                <a:latin typeface="Trade Gothic Next Light"/>
              </a:rPr>
              <a:t>OpenAI</a:t>
            </a:r>
            <a:r>
              <a:rPr lang="pl-PL" b="1">
                <a:latin typeface="Trade Gothic Next Light"/>
              </a:rPr>
              <a:t> </a:t>
            </a:r>
            <a:r>
              <a:rPr lang="pl-PL" b="1" err="1">
                <a:latin typeface="Trade Gothic Next Light"/>
              </a:rPr>
              <a:t>whisper</a:t>
            </a:r>
            <a:endParaRPr lang="pl-PL" b="1">
              <a:latin typeface="Trade Gothic Next Light"/>
            </a:endParaRPr>
          </a:p>
          <a:p>
            <a:pPr lvl="1">
              <a:buFont typeface="Courier New" charset="2"/>
              <a:buChar char="o"/>
            </a:pPr>
            <a:r>
              <a:rPr lang="pl-PL" err="1">
                <a:latin typeface="Trade Gothic Next Light"/>
              </a:rPr>
              <a:t>Downloader</a:t>
            </a:r>
            <a:r>
              <a:rPr lang="pl-PL">
                <a:latin typeface="Trade Gothic Next Light"/>
              </a:rPr>
              <a:t>: </a:t>
            </a:r>
          </a:p>
          <a:p>
            <a:pPr lvl="2">
              <a:buFont typeface="Wingdings" charset="2"/>
              <a:buChar char="§"/>
            </a:pPr>
            <a:r>
              <a:rPr lang="pl-PL" b="1" err="1">
                <a:latin typeface="Trade Gothic Next Light"/>
              </a:rPr>
              <a:t>yt-dlp</a:t>
            </a:r>
            <a:endParaRPr lang="pl-PL" b="1">
              <a:latin typeface="Trade Gothic Next Light"/>
            </a:endParaRPr>
          </a:p>
          <a:p>
            <a:pPr lvl="2">
              <a:buFont typeface="Wingdings" charset="2"/>
              <a:buChar char="§"/>
            </a:pPr>
            <a:r>
              <a:rPr lang="pl-PL" b="1" err="1">
                <a:latin typeface="Trade Gothic Next Light"/>
              </a:rPr>
              <a:t>FFmpeg</a:t>
            </a:r>
            <a:r>
              <a:rPr lang="pl-PL" b="1">
                <a:latin typeface="Trade Gothic Next Light"/>
              </a:rPr>
              <a:t> 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56315F8-E81F-CD72-3AA9-CB2D6FE8F61E}"/>
              </a:ext>
            </a:extLst>
          </p:cNvPr>
          <p:cNvSpPr txBox="1"/>
          <p:nvPr/>
        </p:nvSpPr>
        <p:spPr>
          <a:xfrm>
            <a:off x="6096000" y="2097775"/>
            <a:ext cx="5282712" cy="299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F03B5E"/>
              </a:buClr>
              <a:buFont typeface="Arial"/>
              <a:buChar char="•"/>
            </a:pPr>
            <a:r>
              <a:rPr lang="pl-PL" err="1">
                <a:latin typeface="Trade Gothic Next Light"/>
              </a:rPr>
              <a:t>Frontend</a:t>
            </a:r>
            <a:endParaRPr lang="pl-PL">
              <a:latin typeface="Trade Gothic Next Light"/>
            </a:endParaRPr>
          </a:p>
          <a:p>
            <a:pPr marL="800100" lvl="2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Courier New" charset="2"/>
              <a:buChar char="o"/>
            </a:pPr>
            <a:r>
              <a:rPr lang="pl-PL" sz="1600" b="1" err="1">
                <a:latin typeface="Trade Gothic Next Light"/>
              </a:rPr>
              <a:t>React</a:t>
            </a:r>
            <a:endParaRPr lang="pl-PL" sz="1600" b="1">
              <a:latin typeface="Trade Gothic Next Light"/>
            </a:endParaRPr>
          </a:p>
          <a:p>
            <a:pPr marL="800100" lvl="2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Courier New" charset="2"/>
              <a:buChar char="o"/>
            </a:pPr>
            <a:r>
              <a:rPr lang="pl-PL" sz="1600" b="1" err="1">
                <a:latin typeface="Trade Gothic Next Light"/>
              </a:rPr>
              <a:t>Framer</a:t>
            </a:r>
            <a:r>
              <a:rPr lang="pl-PL" sz="1600" b="1">
                <a:latin typeface="Trade Gothic Next Light"/>
              </a:rPr>
              <a:t> Motion</a:t>
            </a:r>
            <a:endParaRPr lang="en-US" sz="1600" b="1">
              <a:latin typeface="Trade Gothic Next Light"/>
            </a:endParaRPr>
          </a:p>
          <a:p>
            <a:pPr marL="342900" lvl="1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Arial" charset="2"/>
              <a:buChar char="•"/>
            </a:pPr>
            <a:r>
              <a:rPr lang="pl-PL">
                <a:latin typeface="Trade Gothic Next Light"/>
              </a:rPr>
              <a:t>Baza danych</a:t>
            </a:r>
            <a:endParaRPr lang="en-US">
              <a:latin typeface="Trade Gothic Next Light"/>
            </a:endParaRPr>
          </a:p>
          <a:p>
            <a:pPr marL="8001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Courier New" charset="2"/>
              <a:buChar char="o"/>
            </a:pPr>
            <a:r>
              <a:rPr lang="pl-PL" sz="1600" b="1" err="1">
                <a:latin typeface="Trade Gothic Next Light"/>
              </a:rPr>
              <a:t>PostgreSQL</a:t>
            </a:r>
            <a:endParaRPr lang="pl-PL" sz="1600" b="1">
              <a:latin typeface="Trade Gothic Next Light"/>
            </a:endParaRPr>
          </a:p>
          <a:p>
            <a:pPr marL="8001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Courier New" charset="2"/>
              <a:buChar char="o"/>
            </a:pPr>
            <a:r>
              <a:rPr lang="pl-PL" sz="1600" b="1" err="1">
                <a:latin typeface="Trade Gothic Next Light"/>
              </a:rPr>
              <a:t>SQLAlchemy</a:t>
            </a:r>
            <a:endParaRPr lang="pl-PL" sz="1600" b="1">
              <a:latin typeface="Trade Gothic Next Light"/>
            </a:endParaRPr>
          </a:p>
          <a:p>
            <a:pPr marL="8001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Courier New" charset="2"/>
              <a:buChar char="o"/>
            </a:pPr>
            <a:r>
              <a:rPr lang="pl-PL" sz="1600" b="1" err="1">
                <a:latin typeface="Trade Gothic Next Light"/>
              </a:rPr>
              <a:t>Alembic</a:t>
            </a:r>
            <a:endParaRPr lang="en-US" sz="1600" b="1" err="1">
              <a:latin typeface="Trade Gothic Next Light"/>
            </a:endParaRPr>
          </a:p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738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4CA982-812E-CD6D-34C4-6C376BB5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Demo</a:t>
            </a:r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23ABA141-ACE6-DC66-6809-EEA27A02F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086" y="1890737"/>
            <a:ext cx="10327440" cy="497014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24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9B5CB2-9CFF-6537-CA7F-59AC948B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B40D54E4-B811-A616-F339-F6D05B673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508" y="1000999"/>
            <a:ext cx="12199014" cy="58598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57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868F9-FD5E-DB28-D98F-FE797835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F25E659E-E5F7-286F-91F1-6EA57533A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62" y="2669482"/>
            <a:ext cx="12194321" cy="384171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8513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9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0" baseType="lpstr">
      <vt:lpstr>Quotable</vt:lpstr>
      <vt:lpstr>Video-Sent</vt:lpstr>
      <vt:lpstr>Skład</vt:lpstr>
      <vt:lpstr>Główne założenia</vt:lpstr>
      <vt:lpstr>Architektura – backend</vt:lpstr>
      <vt:lpstr>Architektura – baza danych</vt:lpstr>
      <vt:lpstr>Technologie</vt:lpstr>
      <vt:lpstr>Demo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2025-11-18T17:26:09Z</dcterms:created>
  <dcterms:modified xsi:type="dcterms:W3CDTF">2025-11-19T19:24:28Z</dcterms:modified>
</cp:coreProperties>
</file>